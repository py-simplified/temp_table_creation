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</p:sldIdLst>
  <p:sldSz cy="6858000" cx="12192000"/>
  <p:notesSz cx="6858000" cy="9144000"/>
  <p:embeddedFontLst>
    <p:embeddedFont>
      <p:font typeface="Poppins"/>
      <p:regular r:id="rId8"/>
      <p:bold r:id="rId9"/>
      <p:italic r:id="rId10"/>
      <p:boldItalic r:id="rId11"/>
    </p:embeddedFont>
    <p:embeddedFont>
      <p:font typeface="La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D92ECAD-96F6-4CDB-AECA-76F1EAA6E7E4}">
  <a:tblStyle styleId="{DD92ECAD-96F6-4CDB-AECA-76F1EAA6E7E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oppins-boldItalic.fntdata"/><Relationship Id="rId10" Type="http://schemas.openxmlformats.org/officeDocument/2006/relationships/font" Target="fonts/Poppins-italic.fntdata"/><Relationship Id="rId13" Type="http://schemas.openxmlformats.org/officeDocument/2006/relationships/font" Target="fonts/Lato-bold.fntdata"/><Relationship Id="rId12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font" Target="fonts/Poppins-bold.fntdata"/><Relationship Id="rId15" Type="http://schemas.openxmlformats.org/officeDocument/2006/relationships/font" Target="fonts/Lato-boldItalic.fntdata"/><Relationship Id="rId14" Type="http://schemas.openxmlformats.org/officeDocument/2006/relationships/font" Target="fonts/La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6.png"/><Relationship Id="rId8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133475"/>
            <a:ext cx="3657600" cy="5395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67200" y="1133475"/>
            <a:ext cx="3657600" cy="5395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53400" y="1133475"/>
            <a:ext cx="3657600" cy="539591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019175" y="1371600"/>
            <a:ext cx="10001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Strategy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619125" y="1990725"/>
            <a:ext cx="334041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Objective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19125" y="3900487"/>
            <a:ext cx="334041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Benefit Realization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4905375" y="1371600"/>
            <a:ext cx="111013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Execution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4505325" y="1990725"/>
            <a:ext cx="334041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30 / 60 / 90 Day Plan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4505325" y="4352925"/>
            <a:ext cx="334041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Team Structure</a:t>
            </a:r>
            <a:endParaRPr/>
          </a:p>
        </p:txBody>
      </p:sp>
      <p:graphicFrame>
        <p:nvGraphicFramePr>
          <p:cNvPr id="93" name="Google Shape;93;p13"/>
          <p:cNvGraphicFramePr/>
          <p:nvPr/>
        </p:nvGraphicFramePr>
        <p:xfrm>
          <a:off x="4505325" y="4724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{DD92ECAD-96F6-4CDB-AECA-76F1EAA6E7E4}</a:tableStyleId>
              </a:tblPr>
              <a:tblGrid>
                <a:gridCol w="1126025"/>
                <a:gridCol w="1049375"/>
                <a:gridCol w="1005925"/>
              </a:tblGrid>
              <a:tr h="30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Role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Function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Ownership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Product Owner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Business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Prioritization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Tech Lead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IT / Data Eng.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Architecture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AI Lead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 Science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Model design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Testing / QA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Testing CoE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Validation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4" name="Google Shape;94;p13"/>
          <p:cNvSpPr txBox="1"/>
          <p:nvPr/>
        </p:nvSpPr>
        <p:spPr>
          <a:xfrm>
            <a:off x="8791575" y="1371600"/>
            <a:ext cx="174021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Status &amp; Needs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8391525" y="1990725"/>
            <a:ext cx="334041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Stage Tracker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391525" y="4210050"/>
            <a:ext cx="334041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Additional Support Required</a:t>
            </a:r>
            <a:endParaRPr/>
          </a:p>
        </p:txBody>
      </p:sp>
      <p:pic>
        <p:nvPicPr>
          <p:cNvPr descr="image.png" id="97" name="Google Shape;9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7700" y="14001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 txBox="1"/>
          <p:nvPr/>
        </p:nvSpPr>
        <p:spPr>
          <a:xfrm>
            <a:off x="809625" y="2362200"/>
            <a:ext cx="29908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Leverage AI to automate and enhance decision-making across Finance, Risk, and Operations.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809625" y="2867025"/>
            <a:ext cx="299085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Demonstrate measurable efficiency, accuracy, and insight generation using Generative + Predictive AI.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809625" y="4271962"/>
            <a:ext cx="29908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Efficiency: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Reduction of manual reporting &amp; reconciliation by X %.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809625" y="4776787"/>
            <a:ext cx="29908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Effectiveness: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Enhanced accuracy of insights / model predictions.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809625" y="5281612"/>
            <a:ext cx="29908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Scalability: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Framework reusable across N functions.</a:t>
            </a:r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809625" y="5786437"/>
            <a:ext cx="29908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Innovation: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AI orchestration enabling self-service analytics.</a:t>
            </a:r>
            <a:endParaRPr/>
          </a:p>
        </p:txBody>
      </p:sp>
      <p:pic>
        <p:nvPicPr>
          <p:cNvPr descr="image.png" id="104" name="Google Shape;104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05325" y="1400175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3"/>
          <p:cNvSpPr txBox="1"/>
          <p:nvPr/>
        </p:nvSpPr>
        <p:spPr>
          <a:xfrm>
            <a:off x="4505325" y="2362200"/>
            <a:ext cx="31813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30 Days</a:t>
            </a:r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4505325" y="3219450"/>
            <a:ext cx="31813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60 Days</a:t>
            </a:r>
            <a:endParaRPr/>
          </a:p>
        </p:txBody>
      </p:sp>
      <p:sp>
        <p:nvSpPr>
          <p:cNvPr id="107" name="Google Shape;107;p13"/>
          <p:cNvSpPr/>
          <p:nvPr/>
        </p:nvSpPr>
        <p:spPr>
          <a:xfrm>
            <a:off x="4505325" y="4986337"/>
            <a:ext cx="112603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3"/>
          <p:cNvSpPr/>
          <p:nvPr/>
        </p:nvSpPr>
        <p:spPr>
          <a:xfrm>
            <a:off x="5631358" y="4986337"/>
            <a:ext cx="104938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3"/>
          <p:cNvSpPr/>
          <p:nvPr/>
        </p:nvSpPr>
        <p:spPr>
          <a:xfrm>
            <a:off x="6680745" y="4986337"/>
            <a:ext cx="100592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0" name="Google Shape;110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20100" y="14001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 txBox="1"/>
          <p:nvPr/>
        </p:nvSpPr>
        <p:spPr>
          <a:xfrm>
            <a:off x="8582025" y="2419350"/>
            <a:ext cx="29908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Ideation &amp; Feasibility </a:t>
            </a:r>
            <a:r>
              <a:rPr b="1" i="0" lang="en-US" sz="105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✅ Completed</a:t>
            </a:r>
            <a:endParaRPr/>
          </a:p>
        </p:txBody>
      </p:sp>
      <p:sp>
        <p:nvSpPr>
          <p:cNvPr id="112" name="Google Shape;112;p13"/>
          <p:cNvSpPr/>
          <p:nvPr/>
        </p:nvSpPr>
        <p:spPr>
          <a:xfrm>
            <a:off x="8582025" y="2676525"/>
            <a:ext cx="29908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3"/>
          <p:cNvSpPr txBox="1"/>
          <p:nvPr/>
        </p:nvSpPr>
        <p:spPr>
          <a:xfrm>
            <a:off x="8582025" y="2800350"/>
            <a:ext cx="29908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Pilot (2-3 streams) </a:t>
            </a:r>
            <a:r>
              <a:rPr b="1" i="0" lang="en-US" sz="1050" u="none" cap="none" strike="noStrik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🔄 In Progress</a:t>
            </a:r>
            <a:endParaRPr/>
          </a:p>
        </p:txBody>
      </p:sp>
      <p:sp>
        <p:nvSpPr>
          <p:cNvPr id="114" name="Google Shape;114;p13"/>
          <p:cNvSpPr/>
          <p:nvPr/>
        </p:nvSpPr>
        <p:spPr>
          <a:xfrm>
            <a:off x="8582025" y="3057525"/>
            <a:ext cx="29908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3"/>
          <p:cNvSpPr txBox="1"/>
          <p:nvPr/>
        </p:nvSpPr>
        <p:spPr>
          <a:xfrm>
            <a:off x="8582025" y="3181350"/>
            <a:ext cx="29908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Scale-up </a:t>
            </a:r>
            <a:r>
              <a:rPr b="1" i="0" lang="en-US" sz="105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⬜ Planned</a:t>
            </a:r>
            <a:endParaRPr/>
          </a:p>
        </p:txBody>
      </p:sp>
      <p:sp>
        <p:nvSpPr>
          <p:cNvPr id="116" name="Google Shape;116;p13"/>
          <p:cNvSpPr/>
          <p:nvPr/>
        </p:nvSpPr>
        <p:spPr>
          <a:xfrm>
            <a:off x="8582025" y="3438525"/>
            <a:ext cx="29908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3"/>
          <p:cNvSpPr txBox="1"/>
          <p:nvPr/>
        </p:nvSpPr>
        <p:spPr>
          <a:xfrm>
            <a:off x="8582025" y="3562350"/>
            <a:ext cx="29908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Adoption &amp; Monitoring </a:t>
            </a:r>
            <a:r>
              <a:rPr b="1" i="0" lang="en-US" sz="105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⬜ Upcoming</a:t>
            </a:r>
            <a:endParaRPr/>
          </a:p>
        </p:txBody>
      </p:sp>
      <p:sp>
        <p:nvSpPr>
          <p:cNvPr id="118" name="Google Shape;118;p13"/>
          <p:cNvSpPr txBox="1"/>
          <p:nvPr/>
        </p:nvSpPr>
        <p:spPr>
          <a:xfrm>
            <a:off x="8582025" y="4581525"/>
            <a:ext cx="29908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Budget: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Confirmation of H2 budget for scaled deployment.</a:t>
            </a:r>
            <a:endParaRPr/>
          </a:p>
        </p:txBody>
      </p:sp>
      <p:sp>
        <p:nvSpPr>
          <p:cNvPr id="119" name="Google Shape;119;p13"/>
          <p:cNvSpPr txBox="1"/>
          <p:nvPr/>
        </p:nvSpPr>
        <p:spPr>
          <a:xfrm>
            <a:off x="8582025" y="5086350"/>
            <a:ext cx="29908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Resources: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Allocation of 2 additional Data Engineers.</a:t>
            </a:r>
            <a:endParaRPr/>
          </a:p>
        </p:txBody>
      </p:sp>
      <p:sp>
        <p:nvSpPr>
          <p:cNvPr id="120" name="Google Shape;120;p13"/>
          <p:cNvSpPr txBox="1"/>
          <p:nvPr/>
        </p:nvSpPr>
        <p:spPr>
          <a:xfrm>
            <a:off x="8582025" y="5591175"/>
            <a:ext cx="29908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System Access: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Expedited access to production data feeds.</a:t>
            </a:r>
            <a:endParaRPr/>
          </a:p>
        </p:txBody>
      </p:sp>
      <p:sp>
        <p:nvSpPr>
          <p:cNvPr id="121" name="Google Shape;121;p13"/>
          <p:cNvSpPr txBox="1"/>
          <p:nvPr/>
        </p:nvSpPr>
        <p:spPr>
          <a:xfrm>
            <a:off x="4610100" y="2616993"/>
            <a:ext cx="857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2" name="Google Shape;122;p13"/>
          <p:cNvSpPr txBox="1"/>
          <p:nvPr/>
        </p:nvSpPr>
        <p:spPr>
          <a:xfrm>
            <a:off x="4695825" y="2619375"/>
            <a:ext cx="29908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Finalize pilot streams &amp; secure system access</a:t>
            </a:r>
            <a:endParaRPr/>
          </a:p>
        </p:txBody>
      </p:sp>
      <p:sp>
        <p:nvSpPr>
          <p:cNvPr id="123" name="Google Shape;123;p13"/>
          <p:cNvSpPr txBox="1"/>
          <p:nvPr/>
        </p:nvSpPr>
        <p:spPr>
          <a:xfrm>
            <a:off x="4610100" y="2888456"/>
            <a:ext cx="857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4" name="Google Shape;124;p13"/>
          <p:cNvSpPr txBox="1"/>
          <p:nvPr/>
        </p:nvSpPr>
        <p:spPr>
          <a:xfrm>
            <a:off x="4695825" y="2890837"/>
            <a:ext cx="29908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Deploy v1 model</a:t>
            </a:r>
            <a:endParaRPr/>
          </a:p>
        </p:txBody>
      </p:sp>
      <p:sp>
        <p:nvSpPr>
          <p:cNvPr id="125" name="Google Shape;125;p13"/>
          <p:cNvSpPr txBox="1"/>
          <p:nvPr/>
        </p:nvSpPr>
        <p:spPr>
          <a:xfrm>
            <a:off x="4610100" y="3474243"/>
            <a:ext cx="857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6" name="Google Shape;126;p13"/>
          <p:cNvSpPr txBox="1"/>
          <p:nvPr/>
        </p:nvSpPr>
        <p:spPr>
          <a:xfrm>
            <a:off x="4695825" y="3476625"/>
            <a:ext cx="29908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Complete pilot run &amp; gather UAT feedback</a:t>
            </a:r>
            <a:endParaRPr/>
          </a:p>
        </p:txBody>
      </p:sp>
      <p:sp>
        <p:nvSpPr>
          <p:cNvPr id="127" name="Google Shape;127;p13"/>
          <p:cNvSpPr txBox="1"/>
          <p:nvPr/>
        </p:nvSpPr>
        <p:spPr>
          <a:xfrm>
            <a:off x="4610100" y="3745706"/>
            <a:ext cx="857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8" name="Google Shape;128;p13"/>
          <p:cNvSpPr txBox="1"/>
          <p:nvPr/>
        </p:nvSpPr>
        <p:spPr>
          <a:xfrm>
            <a:off x="4695825" y="3748087"/>
            <a:ext cx="29908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Refine model accuracy</a:t>
            </a:r>
            <a:endParaRPr/>
          </a:p>
        </p:txBody>
      </p:sp>
      <p:sp>
        <p:nvSpPr>
          <p:cNvPr id="129" name="Google Shape;129;p13"/>
          <p:cNvSpPr/>
          <p:nvPr/>
        </p:nvSpPr>
        <p:spPr>
          <a:xfrm>
            <a:off x="4505325" y="5295900"/>
            <a:ext cx="112603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3"/>
          <p:cNvSpPr/>
          <p:nvPr/>
        </p:nvSpPr>
        <p:spPr>
          <a:xfrm>
            <a:off x="5631358" y="5295900"/>
            <a:ext cx="104938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3"/>
          <p:cNvSpPr/>
          <p:nvPr/>
        </p:nvSpPr>
        <p:spPr>
          <a:xfrm>
            <a:off x="6680745" y="5295900"/>
            <a:ext cx="100592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3"/>
          <p:cNvSpPr/>
          <p:nvPr/>
        </p:nvSpPr>
        <p:spPr>
          <a:xfrm>
            <a:off x="4505325" y="5605462"/>
            <a:ext cx="112603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3"/>
          <p:cNvSpPr/>
          <p:nvPr/>
        </p:nvSpPr>
        <p:spPr>
          <a:xfrm>
            <a:off x="5631358" y="5605462"/>
            <a:ext cx="104938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3"/>
          <p:cNvSpPr/>
          <p:nvPr/>
        </p:nvSpPr>
        <p:spPr>
          <a:xfrm>
            <a:off x="6680745" y="5605462"/>
            <a:ext cx="100592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3"/>
          <p:cNvSpPr/>
          <p:nvPr/>
        </p:nvSpPr>
        <p:spPr>
          <a:xfrm>
            <a:off x="4505325" y="5915025"/>
            <a:ext cx="1126033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3"/>
          <p:cNvSpPr/>
          <p:nvPr/>
        </p:nvSpPr>
        <p:spPr>
          <a:xfrm>
            <a:off x="5631358" y="5915025"/>
            <a:ext cx="1049387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3"/>
          <p:cNvSpPr/>
          <p:nvPr/>
        </p:nvSpPr>
        <p:spPr>
          <a:xfrm>
            <a:off x="6680745" y="5915025"/>
            <a:ext cx="100592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3"/>
          <p:cNvSpPr/>
          <p:nvPr/>
        </p:nvSpPr>
        <p:spPr>
          <a:xfrm>
            <a:off x="8582025" y="2676525"/>
            <a:ext cx="29908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3"/>
          <p:cNvSpPr/>
          <p:nvPr/>
        </p:nvSpPr>
        <p:spPr>
          <a:xfrm>
            <a:off x="8582025" y="3057525"/>
            <a:ext cx="29908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3"/>
          <p:cNvSpPr/>
          <p:nvPr/>
        </p:nvSpPr>
        <p:spPr>
          <a:xfrm>
            <a:off x="8582025" y="3438525"/>
            <a:ext cx="29908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3"/>
          <p:cNvSpPr txBox="1"/>
          <p:nvPr/>
        </p:nvSpPr>
        <p:spPr>
          <a:xfrm>
            <a:off x="190500" y="381000"/>
            <a:ext cx="118110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Artificial Intelligence Use Case Summary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